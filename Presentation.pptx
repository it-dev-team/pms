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2400" b="1" dirty="0">
                <a:solidFill>
                  <a:srgbClr val="1B3B34"/>
                </a:solidFill>
              </a:rPr>
              <a:t>Ethiopia News Summary: May 2026</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indent="0" marL="0">
              <a:buNone/>
            </a:pPr>
            <a:r>
              <a:rPr lang="en-US" sz="1400" dirty="0">
                <a:solidFill>
                  <a:srgbClr val="000000"/>
                </a:solidFill>
              </a:rPr>
              <a:t>html, body { height: 100%; margin: 0; } .slide-container { width: 1280px; min-height: 720px; background-color: #ffffff; display: flex; flex-direction: column; justify-content: center; align-items: center; position: relative; font-family: 'Inter', sans-serif; color: #333333; } .header-accent { position: absolute; top: 0; left: 0; width: 100%; height: 15px; background-color: #1b3b34; } .logo-container { position: absolute; top: 40px; /* reduced to tighten layout */ left: 50px; } .logo-container img { height: 80px; object-fit: contain; } .content-wrapper { text-align: center; max-width: 900px; } .title { font-family: 'Playfair Display', serif; font-weight: 900; font-size: 64px; color: #1b3b34; margin-bottom: 10px; /* reduced to save vertical space */ line-height: 1.1; } .divider { width: 100px; height: 4px; background-color: #ad9d6f; margin: 20px auto; /* reduced */ } .subtitle { font-size: 28px; color: #ad9d6f; text-transform: uppercase; letter-spacing: 2px; } .footer-info { position: absolute; bottom: 42px; /* slightly reduced to tighten layout */ font-size: 18px; color: #666; } Ethiopia News Summary: May 2026 Political, Economic, and Social Developments Prepared by Manus AI | May 15, 2026</a:t>
            </a:r>
            <a:endParaRPr lang="en-US" sz="1400" dirty="0"/>
          </a:p>
        </p:txBody>
      </p:sp>
      <p:sp>
        <p:nvSpPr>
          <p:cNvPr id="4" name="Text 2"/>
          <p:cNvSpPr/>
          <p:nvPr/>
        </p:nvSpPr>
        <p:spPr>
          <a:xfrm>
            <a:off x="457200" y="4754880"/>
            <a:ext cx="8229600" cy="274320"/>
          </a:xfrm>
          <a:prstGeom prst="rect">
            <a:avLst/>
          </a:prstGeom>
          <a:noFill/>
          <a:ln/>
        </p:spPr>
        <p:txBody>
          <a:bodyPr wrap="square" rtlCol="0" anchor="ctr"/>
          <a:lstStyle/>
          <a:p>
            <a:pPr algn="ctr" indent="0" marL="0">
              <a:buNone/>
            </a:pPr>
            <a:r>
              <a:rPr lang="en-US" sz="1000" dirty="0">
                <a:solidFill>
                  <a:srgbClr val="666666"/>
                </a:solidFill>
              </a:rPr>
              <a:t>Ethiopia News Summary: May 2026 | Slide 1 of 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2400" b="1" dirty="0">
                <a:solidFill>
                  <a:srgbClr val="1B3B34"/>
                </a:solidFill>
              </a:rPr>
              <a:t>Political Tensions and Election Concerns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indent="0" marL="0">
              <a:buNone/>
            </a:pPr>
            <a:r>
              <a:rPr lang="en-US" sz="1400" dirty="0">
                <a:solidFill>
                  <a:srgbClr val="000000"/>
                </a:solidFill>
              </a:rPr>
              <a:t>/* Remove default body margin to reclaim 8px */ body { margin: 0; padding: 0; } .slide-container { width: 1280px; min-height: 720px; /* must keep */ background-color: #ffffff; position: relative; font-family: 'Inter', sans-serif; color: #333333; display: flex; flex-direction: column; } .header { height: 100px; /* keep content height, do not change title upper padding */ display: flex; justify-content: space-between; align-items: center; padding-top: 40px; /* never shrink */ margin-left: 50px; margin-right: 50px; } .logo { height: 60px; object-fit: contain; } .page-title { font-family: 'Playfair Display', serif; font-weight: 900; font-size: 36px; color: #1b3b34; } .content-grid { display: grid; grid-template-columns: 1fr 1fr 1fr; gap: 32px; /* slightly reduced to save vertical space */ margin-left: 50px; margin-right: 50px; padding-top: 52px; /* reduced from 60px to shave height */ } .grid-column { display: flex; flex-direction: column; } .divider { height: 2px; background-color: #ad9d6f; margin-top: 16px; margin-bottom: 16px; /* reduced */ } .callout-container { display: flex; align-items: flex-start; margin-bottom: 12px; /* reduced */ } .number-callout { font-family: 'Playfair Display', serif; font-weight: 900; font-size: 80px; color: #ad9d6f; line-height: 1; margin-right: 20px; } .callout-text { font-size: 20px; font-weight: bold; color: #1b3b34; padding-top: 6px; /* slightly reduced */ } .section-header { font-family: 'Playfair Display', serif; font-weight: 900; font-size: 24px; color: #1b3b34; text-transform: uppercase; } .body-text { font-size: 18px; line-height: 1.6; color: #333333; margin-top: 8px; /* keep concise spacing */ } Political Tensions &amp; Election Concerns 1/3 Territory under Emergency Rule Significant portions of the Amhara and Oromia regions remain under active conflict, raising doubts about the feasibility of the scheduled June 2026 elections. Tigray Escalation The TPLF's move to reinstate its pre-war regional council directly challenges the federally-appointed interim administration, creating a new layer of administrative friction. Analyst Outlook Critics and opposition groups argue that holding elections under current security conditions may deepen the crisis rather than providing a democratic resolution.</a:t>
            </a:r>
            <a:endParaRPr lang="en-US" sz="1400" dirty="0"/>
          </a:p>
        </p:txBody>
      </p:sp>
      <p:sp>
        <p:nvSpPr>
          <p:cNvPr id="4" name="Text 2"/>
          <p:cNvSpPr/>
          <p:nvPr/>
        </p:nvSpPr>
        <p:spPr>
          <a:xfrm>
            <a:off x="457200" y="4754880"/>
            <a:ext cx="8229600" cy="274320"/>
          </a:xfrm>
          <a:prstGeom prst="rect">
            <a:avLst/>
          </a:prstGeom>
          <a:noFill/>
          <a:ln/>
        </p:spPr>
        <p:txBody>
          <a:bodyPr wrap="square" rtlCol="0" anchor="ctr"/>
          <a:lstStyle/>
          <a:p>
            <a:pPr algn="ctr" indent="0" marL="0">
              <a:buNone/>
            </a:pPr>
            <a:r>
              <a:rPr lang="en-US" sz="1000" dirty="0">
                <a:solidFill>
                  <a:srgbClr val="666666"/>
                </a:solidFill>
              </a:rPr>
              <a:t>Ethiopia News Summary: May 2026 | Slide 2 of 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2400" b="1" dirty="0">
                <a:solidFill>
                  <a:srgbClr val="1B3B34"/>
                </a:solidFill>
              </a:rPr>
              <a:t>Economic Outlook: Inflation Surge</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indent="0" marL="0">
              <a:buNone/>
            </a:pPr>
            <a:r>
              <a:rPr lang="en-US" sz="1400" dirty="0">
                <a:solidFill>
                  <a:srgbClr val="000000"/>
                </a:solidFill>
              </a:rPr>
              <a:t>body { margin: 0; padding: 0; } .slide-container { width: 1280px; min-height: 720px; background-color: #ffffff; position: relative; font-family: 'Inter', sans-serif; color: #333333; display: flex; flex-direction: column; } .header { height: 100px; display: flex; justify-content: space-between; align-items: center; padding-top: 40px; margin-left: 50px; margin-right: 50px; } .logo { height: 60px; object-fit: contain; } .page-title { font-family: 'Playfair Display', serif; font-weight: 900; font-size: 36px; color: #1b3b34; } .content-grid { display: grid; grid-template-columns: 1fr 1fr 1fr; gap: 32px; margin-left: 50px; margin-right: 50px; padding-top: 52px; } .grid-column { display: flex; flex-direction: column; } .divider { height: 2px; background-color: #ad9d6f; margin-top: 16px; margin-bottom: 16px; } .callout-container { display: flex; align-items: flex-start; margin-bottom: 12px; } .number-callout { font-family: 'Playfair Display', serif; font-weight: 900; font-size: 80px; color: #ad9d6f; line-height: 1; margin-right: 20px; } .callout-text { font-size: 20px; font-weight: bold; color: #1b3b34; padding-top: 6px; } .section-header { font-family: 'Playfair Display', serif; font-weight: 900; font-size: 24px; color: #1b3b34; text-transform: uppercase; } .body-text { font-size: 18px; line-height: 1.6; color: #333333; } .chart-container { height: 250px; margin-top: 20px; } Economic Outlook: Inflation Surge 11.7% Headline Inflation (April 2026) Inflation has returned to double digits, driven by fuel shortages and rising food and transport costs, testing the government's reform agenda. Inflation Trend const ctx = document.getElementById('inflationChart').getContext('2d'); new Chart(ctx, { type: 'line', data: { labels: ['Feb 2026', 'Mar 2026', 'Apr 2026'], datasets: [{ label: 'Inflation Rate (%)', data: [9.1, 9.4, 11.7], borderColor: '#1b3b34', backgroundColor: '#ad9d6f', borderWidth: 4, tension: 0.3, pointRadius: 6, pointBackgroundColor: '#ad9d6f' }] }, options: { responsive: true, maintainAspectRatio: false, plugins: { legend: { display: false } }, scales: { y: { beginAtZero: false, grid: { display: false } }, x: { grid: { display: false } } } } }); Central Bank Pressure The ESS notes that supply chain disruptions and foreign exchange constraints are forcing the Central Bank to prioritize currency stabilization and cost-of-living management.</a:t>
            </a:r>
            <a:endParaRPr lang="en-US" sz="1400" dirty="0"/>
          </a:p>
        </p:txBody>
      </p:sp>
      <p:sp>
        <p:nvSpPr>
          <p:cNvPr id="4" name="Text 2"/>
          <p:cNvSpPr/>
          <p:nvPr/>
        </p:nvSpPr>
        <p:spPr>
          <a:xfrm>
            <a:off x="457200" y="4754880"/>
            <a:ext cx="8229600" cy="274320"/>
          </a:xfrm>
          <a:prstGeom prst="rect">
            <a:avLst/>
          </a:prstGeom>
          <a:noFill/>
          <a:ln/>
        </p:spPr>
        <p:txBody>
          <a:bodyPr wrap="square" rtlCol="0" anchor="ctr"/>
          <a:lstStyle/>
          <a:p>
            <a:pPr algn="ctr" indent="0" marL="0">
              <a:buNone/>
            </a:pPr>
            <a:r>
              <a:rPr lang="en-US" sz="1000" dirty="0">
                <a:solidFill>
                  <a:srgbClr val="666666"/>
                </a:solidFill>
              </a:rPr>
              <a:t>Ethiopia News Summary: May 2026 | Slide 3 of 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2400" b="1" dirty="0">
                <a:solidFill>
                  <a:srgbClr val="1B3B34"/>
                </a:solidFill>
              </a:rPr>
              <a:t>Aviation: Ethiopian Airlines Expansion</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indent="0" marL="0">
              <a:buNone/>
            </a:pPr>
            <a:r>
              <a:rPr lang="en-US" sz="1400" dirty="0">
                <a:solidFill>
                  <a:srgbClr val="000000"/>
                </a:solidFill>
              </a:rPr>
              <a:t>body { margin: 0; padding: 0; } .slide-container { width: 1280px; min-height: 720px; background-color: #ffffff; position: relative; font-family: 'Inter', sans-serif; color: #333333; display: flex; flex-direction: column; } .header { height: 100px; display: flex; justify-content: space-between; align-items: center; padding-top: 40px; margin-left: 50px; margin-right: 50px; } .logo { height: 60px; object-fit: contain; } .page-title { font-family: 'Playfair Display', serif; font-weight: 900; font-size: 36px; color: #1b3b34; } .content-grid { display: grid; grid-template-columns: 1fr 1fr 1fr; gap: 32px; margin-left: 50px; margin-right: 50px; padding-top: 52px; } .grid-column { display: flex; flex-direction: column; } .divider { height: 2px; background-color: #ad9d6f; margin-top: 16px; margin-bottom: 16px; } .callout-container { display: flex; align-items: flex-start; margin-bottom: 12px; } .number-callout { font-family: 'Playfair Display', serif; font-weight: 900; font-size: 80px; color: #ad9d6f; line-height: 1; margin-right: 20px; } .callout-text { font-size: 20px; font-weight: bold; color: #1b3b34; padding-top: 6px; } .section-header { font-family: 'Playfair Display', serif; font-weight: 900; font-size: 24px; color: #1b3b34; text-transform: uppercase; } .body-text { font-size: 18px; line-height: 1.6; color: #333333; } Aviation: Ethiopian Airlines Expansion 26 New Aircraft on Order Ethiopian Airlines is in advanced talks with Airbus for a significant order including A350 widebodies and A220 narrowbodies, signaling a major fleet realignment. Strategic Growth The carrier is set to resume direct flights to Atlanta on May 21, 2026, reinforcing its position as Africa's largest carrier and expanding its global reach. Leadership Shift Reports indicate Group CEO Mesfin Tasew may be stepping down as the airline navigates a period of strategic realignment and operational 'turbulence'.</a:t>
            </a:r>
            <a:endParaRPr lang="en-US" sz="1400" dirty="0"/>
          </a:p>
        </p:txBody>
      </p:sp>
      <p:sp>
        <p:nvSpPr>
          <p:cNvPr id="4" name="Text 2"/>
          <p:cNvSpPr/>
          <p:nvPr/>
        </p:nvSpPr>
        <p:spPr>
          <a:xfrm>
            <a:off x="457200" y="4754880"/>
            <a:ext cx="8229600" cy="274320"/>
          </a:xfrm>
          <a:prstGeom prst="rect">
            <a:avLst/>
          </a:prstGeom>
          <a:noFill/>
          <a:ln/>
        </p:spPr>
        <p:txBody>
          <a:bodyPr wrap="square" rtlCol="0" anchor="ctr"/>
          <a:lstStyle/>
          <a:p>
            <a:pPr algn="ctr" indent="0" marL="0">
              <a:buNone/>
            </a:pPr>
            <a:r>
              <a:rPr lang="en-US" sz="1000" dirty="0">
                <a:solidFill>
                  <a:srgbClr val="666666"/>
                </a:solidFill>
              </a:rPr>
              <a:t>Ethiopia News Summary: May 2026 | Slide 4 of 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2400" b="1" dirty="0">
                <a:solidFill>
                  <a:srgbClr val="1B3B34"/>
                </a:solidFill>
              </a:rPr>
              <a:t>Social News: A Rare Medical Milestone</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indent="0" marL="0">
              <a:buNone/>
            </a:pPr>
            <a:r>
              <a:rPr lang="en-US" sz="1400" dirty="0">
                <a:solidFill>
                  <a:srgbClr val="000000"/>
                </a:solidFill>
              </a:rPr>
              <a:t>body { margin: 0; padding: 0; } .slide-container { width: 1280px; min-height: 720px; background-color: #ffffff; position: relative; font-family: 'Inter', sans-serif; color: #333333; display: flex; flex-direction: column; } .header { height: 100px; display: flex; justify-content: space-between; align-items: center; padding-top: 40px; margin-left: 50px; margin-right: 50px; } .logo { height: 60px; object-fit: contain; } .page-title { font-family: 'Playfair Display', serif; font-weight: 900; font-size: 36px; color: #1b3b34; } .content-grid { display: grid; grid-template-columns: 1fr 1fr 1fr; gap: 32px; margin-left: 50px; margin-right: 50px; padding-top: 52px; } .grid-column { display: flex; flex-direction: column; } .divider { height: 2px; background-color: #ad9d6f; margin-top: 16px; margin-bottom: 16px; } .callout-container { display: flex; align-items: flex-start; margin-bottom: 12px; } .number-callout { font-family: 'Playfair Display', serif; font-weight: 900; font-size: 120px; color: #ad9d6f; line-height: 0.8; margin-right: 20px; } .callout-text { font-size: 20px; font-weight: bold; color: #1b3b34; padding-top: 10px; } .section-header { font-family: 'Playfair Display', serif; font-weight: 900; font-size: 24px; color: #1b3b34; text-transform: uppercase; } .body-text { font-size: 18px; line-height: 1.6; color: #333333; } .highlight-box { border-top: 2px solid #1b3b34; margin-top: 20px; padding-top: 20px; } Social News: A Rare Medical Milestone 5 Naturally Conceived Quintuplets A 35-year-old woman, Bedriya Adem, gave birth to four boys and one girl in a rare medical event that has captured national attention. A 12-Year Journey The birth comes after the couple spent over a decade trying to conceive, bringing a moment of profound joy to the family and the Harari region. Location: Harari Regional State, Ethiopia Medical Success Staff at Hiwot Fana Specialized Hospital report that both the mother and all five infants are in stable condition following the delivery. "A rare medical milestone for the region."</a:t>
            </a:r>
            <a:endParaRPr lang="en-US" sz="1400" dirty="0"/>
          </a:p>
        </p:txBody>
      </p:sp>
      <p:sp>
        <p:nvSpPr>
          <p:cNvPr id="4" name="Text 2"/>
          <p:cNvSpPr/>
          <p:nvPr/>
        </p:nvSpPr>
        <p:spPr>
          <a:xfrm>
            <a:off x="457200" y="4754880"/>
            <a:ext cx="8229600" cy="274320"/>
          </a:xfrm>
          <a:prstGeom prst="rect">
            <a:avLst/>
          </a:prstGeom>
          <a:noFill/>
          <a:ln/>
        </p:spPr>
        <p:txBody>
          <a:bodyPr wrap="square" rtlCol="0" anchor="ctr"/>
          <a:lstStyle/>
          <a:p>
            <a:pPr algn="ctr" indent="0" marL="0">
              <a:buNone/>
            </a:pPr>
            <a:r>
              <a:rPr lang="en-US" sz="1000" dirty="0">
                <a:solidFill>
                  <a:srgbClr val="666666"/>
                </a:solidFill>
              </a:rPr>
              <a:t>Ethiopia News Summary: May 2026 | Slide 5 of 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2400" b="1" dirty="0">
                <a:solidFill>
                  <a:srgbClr val="1B3B34"/>
                </a:solidFill>
              </a:rPr>
              <a:t>Summary and Conclusion</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indent="0" marL="0">
              <a:buNone/>
            </a:pPr>
            <a:r>
              <a:rPr lang="en-US" sz="1400" dirty="0">
                <a:solidFill>
                  <a:srgbClr val="000000"/>
                </a:solidFill>
              </a:rPr>
              <a:t>body { margin: 0; padding: 0; } .slide-container { width: 1280px; min-height: 720px; background-color: #ffffff; position: relative; font-family: 'Inter', sans-serif; color: #333333; display: flex; flex-direction: column; } .header { height: 100px; display: flex; justify-content: space-between; align-items: center; padding-top: 40px; margin-left: 50px; margin-right: 50px; } .logo { height: 60px; object-fit: contain; } .page-title { font-family: 'Playfair Display', serif; font-weight: 900; font-size: 36px; color: #1b3b34; } .content-grid { display: grid; grid-template-columns: 1fr 1fr 1fr; gap: 32px; margin-left: 50px; margin-right: 50px; padding-top: 40px; /* reduced from 52px */ } .grid-column { display: flex; flex-direction: column; } .divider { height: 2px; background-color: #ad9d6f; margin-top: 12px; /* reduced */ margin-bottom: 12px; /* reduced */ } .callout-container { display: flex; align-items: flex-start; margin-bottom: 8px; /* reduced */ } .number-callout { font-family: 'Playfair Display', serif; font-weight: 900; font-size: 64px; /* reduced from 80px */ color: #ad9d6f; line-height: 1; margin-right: 16px; } .callout-text { font-size: 18px; /* reduced from 20px */ font-weight: bold; color: #1b3b34; padding-top: 4px; } .body-text { font-size: 17px; /* reduced from 18px */ line-height: 1.5; /* reduced from 1.6 */ color: #333333; } .conclusion-box { margin-top: auto; padding-top: 24px; /* reduced from 40px */ margin-left: 50px; margin-right: 50px; border-top: 2px solid #1b3b34; margin-bottom: 40px; /* reduced from 50px */ } .conclusion-text { font-family: 'Playfair Display', serif; font-size: 22px; /* reduced from 24px */ font-weight: 900; color: #1b3b34; font-style: italic; line-height: 1.3; } Summary and Conclusion 01 Political &amp; Security Stability The path to the June 2026 elections remains complex, with security challenges in Amhara, Oromia, and Tigray requiring urgent resolution to ensure democratic legitimacy. 02 Economic Resilience Managing the 11.7% inflation surge and stabilizing the currency are critical priorities for the Central Bank to protect the national economic reform agenda. 03 Strategic Growth Despite leadership transitions, Ethiopian Airlines' expansion and rare social milestones like the Harari quintuplets highlight the nation's underlying potential and resilience. "Ethiopia navigates a pivotal period of transition, where strategic economic management and political reconciliation will define the trajectory of the 2026 landscape."</a:t>
            </a:r>
            <a:endParaRPr lang="en-US" sz="1400" dirty="0"/>
          </a:p>
        </p:txBody>
      </p:sp>
      <p:sp>
        <p:nvSpPr>
          <p:cNvPr id="4" name="Text 2"/>
          <p:cNvSpPr/>
          <p:nvPr/>
        </p:nvSpPr>
        <p:spPr>
          <a:xfrm>
            <a:off x="457200" y="4754880"/>
            <a:ext cx="8229600" cy="274320"/>
          </a:xfrm>
          <a:prstGeom prst="rect">
            <a:avLst/>
          </a:prstGeom>
          <a:noFill/>
          <a:ln/>
        </p:spPr>
        <p:txBody>
          <a:bodyPr wrap="square" rtlCol="0" anchor="ctr"/>
          <a:lstStyle/>
          <a:p>
            <a:pPr algn="ctr" indent="0" marL="0">
              <a:buNone/>
            </a:pPr>
            <a:r>
              <a:rPr lang="en-US" sz="1000" dirty="0">
                <a:solidFill>
                  <a:srgbClr val="666666"/>
                </a:solidFill>
              </a:rPr>
              <a:t>Ethiopia News Summary: May 2026 | Slide 6 of 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Ethiopia News Summary: May 2026</dc:title>
  <dc:subject>PptxGenJS Presentation</dc:subject>
  <dc:creator>PptxGenJS</dc:creator>
  <cp:lastModifiedBy>PptxGenJS</cp:lastModifiedBy>
  <cp:revision>1</cp:revision>
  <dcterms:created xsi:type="dcterms:W3CDTF">2026-05-15T11:00:35Z</dcterms:created>
  <dcterms:modified xsi:type="dcterms:W3CDTF">2026-05-15T11:00:35Z</dcterms:modified>
</cp:coreProperties>
</file>